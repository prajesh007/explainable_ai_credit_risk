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76" r:id="rId3"/>
    <p:sldId id="257" r:id="rId4"/>
    <p:sldId id="258" r:id="rId5"/>
    <p:sldId id="278" r:id="rId6"/>
    <p:sldId id="259" r:id="rId7"/>
    <p:sldId id="279" r:id="rId8"/>
    <p:sldId id="260" r:id="rId9"/>
    <p:sldId id="261" r:id="rId10"/>
    <p:sldId id="262" r:id="rId11"/>
    <p:sldId id="263" r:id="rId12"/>
    <p:sldId id="280" r:id="rId13"/>
    <p:sldId id="264" r:id="rId14"/>
    <p:sldId id="265" r:id="rId15"/>
    <p:sldId id="266" r:id="rId16"/>
    <p:sldId id="281" r:id="rId17"/>
    <p:sldId id="283" r:id="rId18"/>
    <p:sldId id="282" r:id="rId19"/>
    <p:sldId id="267" r:id="rId20"/>
    <p:sldId id="284" r:id="rId21"/>
    <p:sldId id="268" r:id="rId22"/>
    <p:sldId id="288" r:id="rId23"/>
    <p:sldId id="289" r:id="rId24"/>
    <p:sldId id="269" r:id="rId25"/>
    <p:sldId id="270" r:id="rId26"/>
    <p:sldId id="285" r:id="rId27"/>
    <p:sldId id="286" r:id="rId28"/>
    <p:sldId id="287" r:id="rId29"/>
    <p:sldId id="290" r:id="rId30"/>
    <p:sldId id="274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5EFA3-6EB5-40DB-AB33-A8271E5B7B16}" v="259" dt="2026-01-25T12:02:12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0588" autoAdjust="0"/>
  </p:normalViewPr>
  <p:slideViewPr>
    <p:cSldViewPr snapToGrid="0" snapToObjects="1">
      <p:cViewPr varScale="1">
        <p:scale>
          <a:sx n="75" d="100"/>
          <a:sy n="75" d="100"/>
        </p:scale>
        <p:origin x="144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57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topic, highlighting the need for explainable machine learning in credit risk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interpretability, fairness, and trust are mandatory in credit decision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XAI and distinguish it from inherently interpretable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credit scoring is a high-stakes ML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the dataset and why it is suitable for explainable AI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domain-informed feature encoding and why two pipelines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why multiple models were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Justify evaluation metrics and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rationale for choosing XGBoost.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LIME and its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mathematical formulation of LIME.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SHAP and its theoretical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SHAP values and their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TreeExplainer is ideal for tree-based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Interpret global SHAP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0569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counterfactuals improve decision transparency.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60438"/>
            <a:ext cx="9144000" cy="2153265"/>
          </a:xfrm>
        </p:spPr>
        <p:txBody>
          <a:bodyPr>
            <a:noAutofit/>
          </a:bodyPr>
          <a:lstStyle/>
          <a:p>
            <a:r>
              <a:rPr lang="en-IN" sz="4800" b="1" dirty="0"/>
              <a:t>Explainable Artificial Intelligence (XAI)</a:t>
            </a:r>
            <a:endParaRPr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5884"/>
            <a:ext cx="8229600" cy="35402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/>
              <a:t>Concepts and </a:t>
            </a:r>
            <a:r>
              <a:rPr lang="en-US" sz="2400" dirty="0"/>
              <a:t>Practical Application in Credit Risk Modeling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Name – Prajesh Bandhu Banerjee</a:t>
            </a:r>
          </a:p>
          <a:p>
            <a:pPr marL="0" indent="0">
              <a:buNone/>
            </a:pPr>
            <a:r>
              <a:rPr lang="en-US" sz="2000" dirty="0"/>
              <a:t>Roll – 002510502004</a:t>
            </a:r>
          </a:p>
          <a:p>
            <a:pPr marL="0" indent="0">
              <a:buNone/>
            </a:pPr>
            <a:r>
              <a:rPr lang="en-IN" sz="2000" dirty="0"/>
              <a:t>Department of Computer Science &amp; Engineering</a:t>
            </a:r>
          </a:p>
          <a:p>
            <a:pPr marL="0" indent="0">
              <a:buNone/>
            </a:pPr>
            <a:r>
              <a:rPr lang="en-IN" sz="2000" dirty="0"/>
              <a:t>Jadavpur University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1434-3439-D460-A1E2-4E121CA29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8827"/>
            <a:ext cx="9144000" cy="1848463"/>
          </a:xfrm>
        </p:spPr>
        <p:txBody>
          <a:bodyPr>
            <a:normAutofit/>
          </a:bodyPr>
          <a:lstStyle/>
          <a:p>
            <a:r>
              <a:rPr lang="en-US" b="1" dirty="0"/>
              <a:t>Motivation: The Problem with Modern ML</a:t>
            </a:r>
            <a:endParaRPr lang="en-IN" b="1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E434BF2E-B498-A6DB-09FC-0758C736C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290" y="1750142"/>
            <a:ext cx="8455742" cy="4876800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Modern machine learning systems increasingly rely on complex, high-capacity models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These models achieve strong predictive performance but operate as black boxes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outputs provide predictions without insight into underlying reasoning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 credit risk modeling, such opacity limits human understanding of decisions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This creates a gap between model accuracy and human interpretability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6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Why Explainability is Necessary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Users cannot trust or effectively use predictions they do not understand</a:t>
            </a:r>
          </a:p>
          <a:p>
            <a:r>
              <a:rPr lang="en-US" dirty="0"/>
              <a:t>Feature-level explanations are required to validate model behavior</a:t>
            </a:r>
          </a:p>
          <a:p>
            <a:r>
              <a:rPr lang="en-US" dirty="0"/>
              <a:t>Explainability enables identification of spurious correlations learned by complex models</a:t>
            </a:r>
          </a:p>
          <a:p>
            <a:r>
              <a:rPr lang="en-US" dirty="0"/>
              <a:t>Attribution methods allow human accountability for automated decisions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Explainable AI (XAI)?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9535"/>
            <a:ext cx="8229600" cy="5658465"/>
          </a:xfrm>
        </p:spPr>
        <p:txBody>
          <a:bodyPr>
            <a:normAutofit/>
          </a:bodyPr>
          <a:lstStyle/>
          <a:p>
            <a:r>
              <a:rPr lang="en-US" sz="2800" dirty="0"/>
              <a:t>A set of methods designed to explain individual predictions of complex machine learning models</a:t>
            </a:r>
          </a:p>
          <a:p>
            <a:r>
              <a:rPr lang="en-US" sz="2800" dirty="0"/>
              <a:t>Focuses on providing human-interpretable explanations without modifying the underlying model</a:t>
            </a:r>
          </a:p>
          <a:p>
            <a:r>
              <a:rPr lang="en-US" sz="2800" dirty="0"/>
              <a:t>Produces explanations in terms of input features and their contributions to a prediction</a:t>
            </a:r>
          </a:p>
          <a:p>
            <a:r>
              <a:rPr lang="en-US" sz="2800" dirty="0"/>
              <a:t>Aims to make model behavior inspectable, </a:t>
            </a:r>
            <a:r>
              <a:rPr lang="en-US" sz="2800" dirty="0" err="1"/>
              <a:t>debuggable</a:t>
            </a:r>
            <a:r>
              <a:rPr lang="en-US" sz="2800" dirty="0"/>
              <a:t>, and accountable</a:t>
            </a:r>
          </a:p>
          <a:p>
            <a:r>
              <a:rPr lang="en-US" sz="2800" dirty="0"/>
              <a:t>Complements predictive performance by enabling interpretation beyond accuracy metrics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648-349A-B88D-30CE-C434AC42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82EC51A-2655-3EB7-5950-887049C24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2" y="0"/>
            <a:ext cx="9126348" cy="6858000"/>
          </a:xfrm>
        </p:spPr>
      </p:pic>
    </p:spTree>
    <p:extLst>
      <p:ext uri="{BB962C8B-B14F-4D97-AF65-F5344CB8AC3E}">
        <p14:creationId xmlns:p14="http://schemas.microsoft.com/office/powerpoint/2010/main" val="70394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Taxonomy of Explainable AI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Inherently interpretable models</a:t>
            </a:r>
            <a:br>
              <a:rPr lang="en-US" dirty="0"/>
            </a:br>
            <a:r>
              <a:rPr lang="en-US" dirty="0" err="1"/>
              <a:t>Models</a:t>
            </a:r>
            <a:r>
              <a:rPr lang="en-US" dirty="0"/>
              <a:t> whose structure is directly understandable, such as linear models or small decision trees</a:t>
            </a:r>
          </a:p>
          <a:p>
            <a:r>
              <a:rPr lang="en-US" b="1" dirty="0"/>
              <a:t>Post-hoc explanation methods</a:t>
            </a:r>
            <a:br>
              <a:rPr lang="en-US" dirty="0"/>
            </a:br>
            <a:r>
              <a:rPr lang="en-US" dirty="0"/>
              <a:t>Techniques that explain predictions </a:t>
            </a:r>
            <a:r>
              <a:rPr lang="en-US" b="1" dirty="0"/>
              <a:t>after</a:t>
            </a:r>
            <a:r>
              <a:rPr lang="en-US" dirty="0"/>
              <a:t> training a complex model, without modifying it (Ribeiro et al., 2016)</a:t>
            </a:r>
          </a:p>
          <a:p>
            <a:r>
              <a:rPr lang="en-US" b="1" dirty="0"/>
              <a:t>Local explanation methods</a:t>
            </a:r>
            <a:br>
              <a:rPr lang="en-US" dirty="0"/>
            </a:br>
            <a:r>
              <a:rPr lang="en-US" dirty="0"/>
              <a:t>Explain the reasoning behind </a:t>
            </a:r>
            <a:r>
              <a:rPr lang="en-US" b="1" dirty="0"/>
              <a:t>individual predictions</a:t>
            </a:r>
            <a:r>
              <a:rPr lang="en-US" dirty="0"/>
              <a:t> rather than the entire model</a:t>
            </a:r>
          </a:p>
          <a:p>
            <a:r>
              <a:rPr lang="en-US" b="1" dirty="0"/>
              <a:t>Global explanation methods</a:t>
            </a:r>
            <a:br>
              <a:rPr lang="en-US" dirty="0"/>
            </a:br>
            <a:r>
              <a:rPr lang="en-US" dirty="0"/>
              <a:t>Describe overall model behavior by aggregating explanations across many predictions (Lundberg et al., 2019)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F0D5-1A9B-D5BD-E917-689F915F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DCD9E5-54F8-B522-DD45-E7D123834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2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Local vs Global Explanations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Local Explanations</a:t>
            </a:r>
          </a:p>
          <a:p>
            <a:pPr lvl="1"/>
            <a:r>
              <a:rPr lang="en-US" dirty="0"/>
              <a:t>Explain why a specific prediction was made for an individual instance (Ribeiro et al., 2016)</a:t>
            </a:r>
          </a:p>
          <a:p>
            <a:pPr lvl="1"/>
            <a:r>
              <a:rPr lang="en-US" dirty="0"/>
              <a:t>Provide feature-level contributions for a single decision</a:t>
            </a:r>
          </a:p>
          <a:p>
            <a:pPr lvl="1"/>
            <a:r>
              <a:rPr lang="en-US" dirty="0"/>
              <a:t>Used to assess whether a particular prediction is reasonable and trustworthy</a:t>
            </a:r>
          </a:p>
          <a:p>
            <a:pPr lvl="1"/>
            <a:r>
              <a:rPr lang="en-US" dirty="0"/>
              <a:t>Implemented in this work using LIME and local SHAP explanations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b="1" dirty="0"/>
              <a:t>Global Explanations</a:t>
            </a:r>
          </a:p>
          <a:p>
            <a:pPr lvl="1"/>
            <a:r>
              <a:rPr lang="en-US" dirty="0"/>
              <a:t>Describe how the model behaves overall across the dataset (Lundberg et al., 2019)</a:t>
            </a:r>
          </a:p>
          <a:p>
            <a:pPr lvl="1"/>
            <a:r>
              <a:rPr lang="en-US" dirty="0"/>
              <a:t>Identify which features are consistently important for predictions</a:t>
            </a:r>
          </a:p>
          <a:p>
            <a:pPr lvl="1"/>
            <a:r>
              <a:rPr lang="en-US" dirty="0"/>
              <a:t>Enable inspection of systematic patterns and biases</a:t>
            </a:r>
          </a:p>
          <a:p>
            <a:pPr lvl="1"/>
            <a:r>
              <a:rPr lang="en-US" dirty="0"/>
              <a:t>Implemented in this work by aggregating SHAP values across samples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Post-hoc Explainability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Explanation methods applied after a model has been trained, without altering its internal structure (Ribeiro et al., 2016)</a:t>
            </a:r>
          </a:p>
          <a:p>
            <a:r>
              <a:rPr lang="en-US" dirty="0"/>
              <a:t>Treat the predictive model as a black box, requiring only access to inputs and outputs</a:t>
            </a:r>
          </a:p>
          <a:p>
            <a:r>
              <a:rPr lang="en-US" dirty="0"/>
              <a:t>Enable interpretation of high-performing but opaque models, such as ensemble trees</a:t>
            </a:r>
          </a:p>
          <a:p>
            <a:r>
              <a:rPr lang="en-US" dirty="0"/>
              <a:t>Allow explanations to be generated at prediction time</a:t>
            </a:r>
          </a:p>
          <a:p>
            <a:r>
              <a:rPr lang="en-US" dirty="0"/>
              <a:t>This work focuses on post-hoc explainability using LIME and SHAP applied to </a:t>
            </a:r>
            <a:r>
              <a:rPr lang="en-US" dirty="0" err="1"/>
              <a:t>XGBoost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LIME: Conceptual Foundation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Local Interpretable Model-Agnostic Explanations (LIME) proposed by Ribeiro et al. (2016)</a:t>
            </a:r>
          </a:p>
          <a:p>
            <a:r>
              <a:rPr lang="en-US" dirty="0"/>
              <a:t>Designed to explain individual predictions of any black-box classifier</a:t>
            </a:r>
          </a:p>
          <a:p>
            <a:r>
              <a:rPr lang="en-US" dirty="0"/>
              <a:t>Assumes that a complex model can be locally approximated by an interpretable model</a:t>
            </a:r>
          </a:p>
          <a:p>
            <a:r>
              <a:rPr lang="en-IN" dirty="0"/>
              <a:t>Generates explanations using a simple, human-interpretable surrogate model</a:t>
            </a:r>
          </a:p>
          <a:p>
            <a:r>
              <a:rPr lang="en-US" dirty="0"/>
              <a:t>Focuses on explaining why this specific prediction was made, not the entire model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LIME: Mathematical Formulation</a:t>
            </a:r>
            <a:endParaRPr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𝒢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br>
                  <a:rPr lang="en-I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: original black-box model</a:t>
                </a:r>
              </a:p>
              <a:p>
                <a:pPr marL="0" indent="0">
                  <a:buNone/>
                </a:pPr>
                <a:r>
                  <a:rPr lang="en-IN" dirty="0"/>
                  <a:t>g: interpretable surrogate model</a:t>
                </a:r>
              </a:p>
              <a:p>
                <a:pPr marL="0" indent="0">
                  <a:buNone/>
                </a:pPr>
                <a:r>
                  <a:rPr lang="en-US" dirty="0"/>
                  <a:t>L(</a:t>
                </a:r>
                <a:r>
                  <a:rPr lang="en-US" dirty="0" err="1"/>
                  <a:t>f,g</a:t>
                </a:r>
                <a:r>
                  <a:rPr lang="en-US" dirty="0"/>
                  <a:t>,πx​): local fidelity loss, weighted by proximity to instance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IN" dirty="0"/>
                  <a:t>locality kernel defining the </a:t>
                </a:r>
                <a:r>
                  <a:rPr lang="en-IN" dirty="0" err="1"/>
                  <a:t>neighborhood</a:t>
                </a:r>
                <a:r>
                  <a:rPr lang="en-IN" dirty="0"/>
                  <a:t> around </a:t>
                </a:r>
                <a14:m>
                  <m:oMath xmlns:m="http://schemas.openxmlformats.org/officeDocument/2006/math">
                    <m:r>
                      <a:rPr lang="en-IN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Ω(g): complexity penalty enforcing interpretability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r="-2148" b="-1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5D94A3DC-DB16-9534-1410-F1DE59677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5492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4B0D03D-39FD-2474-2643-2658FF4C8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3770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0623997-F178-C119-AA34-3D8B629A0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-3968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8E671093-C46B-B804-331E-658F9432D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37702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0B2D24C1-6D9E-3709-94C3-B6F4CB93A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6858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A970-8355-C23C-4D30-8C7930D5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033210-D876-A521-0DDC-AEC7CF5F4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9143999" cy="2210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FB2397-5560-D436-4209-DACAA7A51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2742358"/>
            <a:ext cx="9144000" cy="2291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DD977F-326F-E32B-09BF-4A1B3C96B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838218"/>
            <a:ext cx="9143998" cy="20197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0F48B6-87F3-1C7C-C9E6-BA0D05F58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519" y="5045318"/>
            <a:ext cx="3589331" cy="6325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F07AAC-48C4-39F7-43D7-E930301E8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7924" y="5700177"/>
            <a:ext cx="2997843" cy="1135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F42D75-4343-F68C-608B-A3583F21A0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" y="2172083"/>
            <a:ext cx="9144000" cy="570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12F764-9658-4C59-A85A-874B978E9E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85" y="2148506"/>
            <a:ext cx="4618120" cy="672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EF3F17-E319-2C1B-08D0-988B9C5E67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0005" y="2180430"/>
            <a:ext cx="4273993" cy="5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LIME: Strengths and Limitations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Strengths</a:t>
            </a:r>
          </a:p>
          <a:p>
            <a:pPr lvl="1"/>
            <a:r>
              <a:rPr lang="en-IN" dirty="0"/>
              <a:t>Model-agnostic: applicable to any classifier with input–output access (Ribeiro et al., 2016)</a:t>
            </a:r>
          </a:p>
          <a:p>
            <a:pPr lvl="1"/>
            <a:r>
              <a:rPr lang="en-IN" dirty="0"/>
              <a:t>Produces human-interpretable explanations using simple surrogate models</a:t>
            </a:r>
          </a:p>
          <a:p>
            <a:pPr lvl="1"/>
            <a:r>
              <a:rPr lang="en-IN" dirty="0"/>
              <a:t>Enables users to assess trust in individual predictions</a:t>
            </a:r>
          </a:p>
          <a:p>
            <a:pPr lvl="1"/>
            <a:r>
              <a:rPr lang="en-IN" dirty="0"/>
              <a:t>Useful for debugging and validating specific model decisions</a:t>
            </a:r>
          </a:p>
          <a:p>
            <a:r>
              <a:rPr lang="en-US" b="1" dirty="0"/>
              <a:t>Limitations</a:t>
            </a:r>
          </a:p>
          <a:p>
            <a:pPr lvl="1"/>
            <a:r>
              <a:rPr lang="en-US" dirty="0"/>
              <a:t>Explanations are locally faithful, with no guarantees of global correctness</a:t>
            </a:r>
          </a:p>
          <a:p>
            <a:pPr lvl="1"/>
            <a:r>
              <a:rPr lang="en-US" dirty="0"/>
              <a:t>Different local explanations may be inconsistent across instances</a:t>
            </a:r>
          </a:p>
          <a:p>
            <a:pPr lvl="1"/>
            <a:r>
              <a:rPr lang="en-US" dirty="0"/>
              <a:t>Results depend on the sampling strategy and neighborhood definition</a:t>
            </a:r>
          </a:p>
          <a:p>
            <a:pPr lvl="1"/>
            <a:r>
              <a:rPr lang="en-US" dirty="0"/>
              <a:t>Not suitable for explaining overall model behavior</a:t>
            </a:r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SHAP: Conceptual Foundation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 (SHAP) proposed by Lundberg &amp; Lee (2017)</a:t>
            </a:r>
          </a:p>
          <a:p>
            <a:r>
              <a:rPr lang="en-US" dirty="0"/>
              <a:t>Based on Shapley values from cooperative game theory</a:t>
            </a:r>
          </a:p>
          <a:p>
            <a:r>
              <a:rPr lang="en-US" dirty="0"/>
              <a:t>Treats each input feature as a player contributing to the prediction</a:t>
            </a:r>
          </a:p>
          <a:p>
            <a:r>
              <a:rPr lang="en-US" dirty="0"/>
              <a:t>Attributes prediction outcomes through fair and principled feature contributions</a:t>
            </a:r>
          </a:p>
          <a:p>
            <a:r>
              <a:rPr lang="en-US" dirty="0"/>
              <a:t>Provides explanations that are additive and comparable across instances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226"/>
            <a:ext cx="8229600" cy="1235216"/>
          </a:xfrm>
        </p:spPr>
        <p:txBody>
          <a:bodyPr/>
          <a:lstStyle/>
          <a:p>
            <a:r>
              <a:rPr lang="en-IN" b="1" dirty="0"/>
              <a:t>SHAP: Theory and Guarantees</a:t>
            </a:r>
            <a:endParaRPr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75B83B-CF85-4A7E-E6D2-8280982C0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0216" y="1459927"/>
            <a:ext cx="4756802" cy="14208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07A4C1-B243-29B5-1450-EA342D9BE2E5}"/>
                  </a:ext>
                </a:extLst>
              </p:cNvPr>
              <p:cNvSpPr txBox="1"/>
              <p:nvPr/>
            </p:nvSpPr>
            <p:spPr>
              <a:xfrm>
                <a:off x="636608" y="3108728"/>
                <a:ext cx="8229600" cy="4216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E[f(x)]: </a:t>
                </a:r>
                <a:r>
                  <a:rPr lang="en-US" sz="2400" b="1" dirty="0"/>
                  <a:t>baseline prediction</a:t>
                </a:r>
                <a:r>
                  <a:rPr lang="en-US" sz="2400" dirty="0"/>
                  <a:t>, representing the expected model output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ϕi</a:t>
                </a:r>
                <a:r>
                  <a:rPr lang="en-US" sz="2400" dirty="0"/>
                  <a:t>​: </a:t>
                </a:r>
                <a:r>
                  <a:rPr lang="en-US" sz="2400" b="1" dirty="0"/>
                  <a:t>SHAP value</a:t>
                </a:r>
                <a:r>
                  <a:rPr lang="en-US" sz="2400" dirty="0"/>
                  <a:t>, quantifying the contribution of feature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endParaRPr lang="en-IN" sz="2400" dirty="0"/>
              </a:p>
              <a:p>
                <a:r>
                  <a:rPr lang="en-US" sz="2400" b="1" dirty="0"/>
                  <a:t>Theoretical Guarantees (Lundberg &amp; Lee, 2017)</a:t>
                </a:r>
              </a:p>
              <a:p>
                <a:pPr lvl="1"/>
                <a:r>
                  <a:rPr lang="en-US" sz="2400" b="1" dirty="0"/>
                  <a:t>Local accuracy</a:t>
                </a:r>
                <a:r>
                  <a:rPr lang="en-US" sz="2400" dirty="0"/>
                  <a:t>: feature contributions exactly sum to the model prediction</a:t>
                </a:r>
              </a:p>
              <a:p>
                <a:pPr lvl="1"/>
                <a:r>
                  <a:rPr lang="en-US" sz="2400" b="1" dirty="0"/>
                  <a:t>Consistency</a:t>
                </a:r>
                <a:r>
                  <a:rPr lang="en-US" sz="2400" dirty="0"/>
                  <a:t>: if a feature’s contribution increases in the model, its SHAP value does not decrease</a:t>
                </a:r>
              </a:p>
              <a:p>
                <a:pPr lvl="1"/>
                <a:r>
                  <a:rPr lang="en-US" sz="2400" b="1" dirty="0"/>
                  <a:t>Missingness</a:t>
                </a:r>
                <a:r>
                  <a:rPr lang="en-US" sz="2400" dirty="0"/>
                  <a:t>: features absent from the model receive zero contribution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07A4C1-B243-29B5-1450-EA342D9BE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8" y="3108728"/>
                <a:ext cx="8229600" cy="4216539"/>
              </a:xfrm>
              <a:prstGeom prst="rect">
                <a:avLst/>
              </a:prstGeom>
              <a:blipFill>
                <a:blip r:embed="rId4"/>
                <a:stretch>
                  <a:fillRect l="-1111" t="-1156" r="-1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ACE6-B172-3A2F-40DD-6659D83A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7E58301-EF45-6093-2087-9BA008C63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020991"/>
            <a:ext cx="9144000" cy="383700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B21608-E139-8BC6-D899-C4BE05498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2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73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F2E8-A08D-61C0-C74D-AB765F0C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TreeExplainer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7617-C7A2-14AD-B0C4-A56BCB0EB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576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TreeExplainer</a:t>
            </a:r>
            <a:r>
              <a:rPr lang="en-US" dirty="0"/>
              <a:t> is a specialized SHAP algorithm for tree-based models (Lundberg et al., 2019)</a:t>
            </a:r>
          </a:p>
          <a:p>
            <a:r>
              <a:rPr lang="en-US" dirty="0"/>
              <a:t>Computes exact SHAP values by exploiting the structure of decision trees</a:t>
            </a:r>
          </a:p>
          <a:p>
            <a:r>
              <a:rPr lang="en-US" dirty="0"/>
              <a:t>Avoids sampling-based approximations used in generic SHAP methods</a:t>
            </a:r>
          </a:p>
          <a:p>
            <a:r>
              <a:rPr lang="en-US" dirty="0"/>
              <a:t>Efficiently scales to tree ensembles, including Random Forests and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Used in this work to explain the trained </a:t>
            </a:r>
            <a:r>
              <a:rPr lang="en-US" dirty="0" err="1"/>
              <a:t>XGBoost</a:t>
            </a:r>
            <a:r>
              <a:rPr lang="en-US" dirty="0"/>
              <a:t> credit risk model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22561-BB87-EFE8-165E-ED2F94EA2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26" y="4716300"/>
            <a:ext cx="6325148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81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EA3D-9647-6835-F094-03A9F100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BCC50DB-CE3C-706E-1634-D05A002CF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</p:spPr>
      </p:pic>
    </p:spTree>
    <p:extLst>
      <p:ext uri="{BB962C8B-B14F-4D97-AF65-F5344CB8AC3E}">
        <p14:creationId xmlns:p14="http://schemas.microsoft.com/office/powerpoint/2010/main" val="2646608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Practical Validation of Explainable AI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Binary </a:t>
            </a:r>
            <a:r>
              <a:rPr lang="en-US" b="1" dirty="0"/>
              <a:t>credit risk prediction</a:t>
            </a:r>
            <a:r>
              <a:rPr lang="en-US" dirty="0"/>
              <a:t> task (good vs bad credit)</a:t>
            </a:r>
          </a:p>
          <a:p>
            <a:r>
              <a:rPr lang="en-IN" dirty="0"/>
              <a:t>Dataset: </a:t>
            </a:r>
            <a:r>
              <a:rPr lang="en-IN" b="1" dirty="0"/>
              <a:t>UCI Machine Learning Repository – German Credit Dataset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US" dirty="0"/>
              <a:t>Trained and evaluated </a:t>
            </a:r>
            <a:r>
              <a:rPr lang="en-US" b="1" dirty="0"/>
              <a:t>multiple classification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</a:t>
            </a:r>
          </a:p>
          <a:p>
            <a:pPr lvl="1"/>
            <a:r>
              <a:rPr lang="en-US" dirty="0"/>
              <a:t>Random Forest</a:t>
            </a:r>
          </a:p>
          <a:p>
            <a:pPr lvl="1"/>
            <a:r>
              <a:rPr lang="en-US" dirty="0"/>
              <a:t>Multi-Layer Perceptron (MLP)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Performed model comparison using </a:t>
            </a:r>
            <a:r>
              <a:rPr lang="en-US" b="1" dirty="0"/>
              <a:t>ROC-AUC and cross-validation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9E2CC-382C-A064-688F-AB17B5E98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7" y="2480151"/>
            <a:ext cx="7919884" cy="13830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0703-469F-D1A8-C95E-4103D933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Practical Validation of Explainable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58F6-FA8C-5771-7886-108A05DB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14252"/>
          </a:xfrm>
        </p:spPr>
        <p:txBody>
          <a:bodyPr>
            <a:normAutofit lnSpcReduction="10000"/>
          </a:bodyPr>
          <a:lstStyle/>
          <a:p>
            <a:r>
              <a:rPr lang="en-US" sz="3000" b="1" dirty="0" err="1"/>
              <a:t>XGBoost</a:t>
            </a:r>
            <a:r>
              <a:rPr lang="en-US" sz="3000" b="1" dirty="0"/>
              <a:t> achieved the highest ROC-AUC performance</a:t>
            </a:r>
            <a:r>
              <a:rPr lang="en-US" sz="3000" dirty="0"/>
              <a:t> among the evaluated models</a:t>
            </a:r>
          </a:p>
          <a:p>
            <a:r>
              <a:rPr lang="en-US" sz="3000" dirty="0"/>
              <a:t>Selected </a:t>
            </a:r>
            <a:r>
              <a:rPr lang="en-US" sz="3000" b="1" dirty="0" err="1"/>
              <a:t>XGBoost</a:t>
            </a:r>
            <a:r>
              <a:rPr lang="en-US" sz="3000" dirty="0"/>
              <a:t> for detailed explainability analysis</a:t>
            </a:r>
          </a:p>
          <a:p>
            <a:r>
              <a:rPr lang="en-US" sz="3000" dirty="0"/>
              <a:t>Applied </a:t>
            </a:r>
            <a:r>
              <a:rPr lang="en-US" sz="3000" b="1" dirty="0"/>
              <a:t>LIME</a:t>
            </a:r>
            <a:r>
              <a:rPr lang="en-US" sz="3000" dirty="0"/>
              <a:t> for instance-level explanations</a:t>
            </a:r>
          </a:p>
          <a:p>
            <a:r>
              <a:rPr lang="en-US" sz="3000" dirty="0"/>
              <a:t>Applied </a:t>
            </a:r>
            <a:r>
              <a:rPr lang="en-US" sz="3000" b="1" dirty="0"/>
              <a:t>SHAP (</a:t>
            </a:r>
            <a:r>
              <a:rPr lang="en-US" sz="3000" b="1" dirty="0" err="1"/>
              <a:t>TreeExplainer</a:t>
            </a:r>
            <a:r>
              <a:rPr lang="en-US" sz="3000" b="1" dirty="0"/>
              <a:t>)</a:t>
            </a:r>
            <a:r>
              <a:rPr lang="en-US" sz="3000" dirty="0"/>
              <a:t> for local and global feature attribution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70288-F931-5FB3-BF4C-145089E9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852488"/>
            <a:ext cx="9144000" cy="17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5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Findings and Conclusion</a:t>
            </a:r>
            <a:endParaRPr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40234-9EF3-D2F7-F118-6055558B2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27450" y="1435100"/>
            <a:ext cx="5111750" cy="4262297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6009DFE-4FE7-3B92-FED7-44A82E441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270250" cy="514985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 recall for good credit applicants (</a:t>
            </a:r>
            <a:r>
              <a:rPr lang="en-US" sz="2400" b="1" dirty="0"/>
              <a:t>97.1%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few good customers incorrectly rejected (</a:t>
            </a:r>
            <a:r>
              <a:rPr lang="en-US" sz="2400" b="1" dirty="0"/>
              <a:t>FN = 4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Moderate false positives (</a:t>
            </a:r>
            <a:r>
              <a:rPr lang="en-US" sz="2400" b="1" dirty="0"/>
              <a:t>39 bad customers approved</a:t>
            </a:r>
            <a:r>
              <a:rPr lang="en-US" sz="2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 favors approval → suitable for </a:t>
            </a:r>
            <a:r>
              <a:rPr lang="en-US" sz="2400" b="1" dirty="0"/>
              <a:t>pre-screening</a:t>
            </a:r>
            <a:r>
              <a:rPr lang="en-US" sz="2400" dirty="0"/>
              <a:t>, not final decision</a:t>
            </a:r>
            <a:endParaRPr lang="en-I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A015-1322-C8B3-6554-BCAE945A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Findings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722E-FB60-BB1C-6175-C655369B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390" y="273051"/>
            <a:ext cx="5143947" cy="5741156"/>
          </a:xfrm>
        </p:spPr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05A62-EB88-8BFB-C790-344522F62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Status and Savings are the most influential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Poor financial buffers strongly reduce approval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Longer loan duration and higher credit amount increase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Demographic features have relatively smaller global impact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BF0393-6F20-D65F-738F-E6E98A1A5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391" y="273050"/>
            <a:ext cx="5143946" cy="574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46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F35D-02A2-0E96-896E-0CA1FB4A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7894320" cy="1191222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	Findings and Conclusion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732B348-2B8F-46DB-86A7-1A743E8A5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6262" y="2167532"/>
            <a:ext cx="5111750" cy="3226197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824F20C-738F-D9D9-8CAC-3EFF626D91D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57200" y="2349470"/>
            <a:ext cx="35990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approval probability: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0.846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predicted probability: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0.225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Largest negative contributors: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account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savings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contributors: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Manageable installment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credit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823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Findings and Conclusion</a:t>
            </a:r>
            <a:endParaRPr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BCA9BE88-1A4D-2A7B-DA85-5D64D3DCC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87708" y="3959529"/>
            <a:ext cx="5122247" cy="27244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4218AD-12A1-2343-2F88-A7F39E9C5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45" y="1295182"/>
            <a:ext cx="4509075" cy="3006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027430"/>
          </a:xfrm>
        </p:spPr>
        <p:txBody>
          <a:bodyPr>
            <a:noAutofit/>
          </a:bodyPr>
          <a:lstStyle/>
          <a:p>
            <a:r>
              <a:rPr lang="en-IN" sz="3200" b="1" dirty="0"/>
              <a:t>Findings and Conclusion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Bias &amp; Fairness Audit</a:t>
            </a:r>
          </a:p>
          <a:p>
            <a:pPr lvl="1"/>
            <a:r>
              <a:rPr lang="en-US" b="1" dirty="0"/>
              <a:t>Approval Rate by Personal Status / Sex (proxy)</a:t>
            </a:r>
          </a:p>
          <a:p>
            <a:pPr lvl="2"/>
            <a:r>
              <a:rPr lang="en-US" dirty="0"/>
              <a:t>Group 0: </a:t>
            </a:r>
            <a:r>
              <a:rPr lang="en-US" b="1" dirty="0"/>
              <a:t>84.6%</a:t>
            </a:r>
            <a:endParaRPr lang="en-US" dirty="0"/>
          </a:p>
          <a:p>
            <a:pPr lvl="2"/>
            <a:r>
              <a:rPr lang="en-US" dirty="0"/>
              <a:t>Group 1: </a:t>
            </a:r>
            <a:r>
              <a:rPr lang="en-US" b="1" dirty="0"/>
              <a:t>69.4%</a:t>
            </a:r>
            <a:r>
              <a:rPr lang="en-US" dirty="0"/>
              <a:t> ⬅ lowest</a:t>
            </a:r>
          </a:p>
          <a:p>
            <a:pPr lvl="2"/>
            <a:r>
              <a:rPr lang="en-US" dirty="0"/>
              <a:t>Group 2: </a:t>
            </a:r>
            <a:r>
              <a:rPr lang="en-US" b="1" dirty="0"/>
              <a:t>86.8%</a:t>
            </a:r>
            <a:endParaRPr lang="en-US" dirty="0"/>
          </a:p>
          <a:p>
            <a:pPr lvl="2"/>
            <a:r>
              <a:rPr lang="en-US" dirty="0"/>
              <a:t>Group 3: </a:t>
            </a:r>
            <a:r>
              <a:rPr lang="en-US" b="1" dirty="0"/>
              <a:t>84.2%</a:t>
            </a:r>
            <a:endParaRPr lang="en-US" dirty="0"/>
          </a:p>
          <a:p>
            <a:pPr marL="1257300" lvl="3" indent="0">
              <a:buNone/>
            </a:pPr>
            <a:r>
              <a:rPr lang="en-US" dirty="0"/>
              <a:t> Moderate disparity across groups</a:t>
            </a:r>
            <a:br>
              <a:rPr lang="en-US" dirty="0"/>
            </a:br>
            <a:r>
              <a:rPr lang="en-US" dirty="0"/>
              <a:t> Suggests </a:t>
            </a:r>
            <a:r>
              <a:rPr lang="en-US" b="1" dirty="0"/>
              <a:t>proxy effects</a:t>
            </a:r>
            <a:r>
              <a:rPr lang="en-US" dirty="0"/>
              <a:t>, not explicit discrimination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Approval Rate by Foreign Worker Status</a:t>
            </a:r>
          </a:p>
          <a:p>
            <a:pPr lvl="2"/>
            <a:r>
              <a:rPr lang="en-US" dirty="0"/>
              <a:t>Non-foreign: </a:t>
            </a:r>
            <a:r>
              <a:rPr lang="en-US" b="1" dirty="0"/>
              <a:t>80.0%</a:t>
            </a:r>
            <a:endParaRPr lang="en-US" dirty="0"/>
          </a:p>
          <a:p>
            <a:pPr lvl="2"/>
            <a:r>
              <a:rPr lang="en-US" dirty="0"/>
              <a:t>Foreign worker: </a:t>
            </a:r>
            <a:r>
              <a:rPr lang="en-US" b="1" dirty="0"/>
              <a:t>81.0%</a:t>
            </a:r>
            <a:endParaRPr lang="en-US" dirty="0"/>
          </a:p>
          <a:p>
            <a:pPr marL="1257300" lvl="3" indent="0">
              <a:buNone/>
            </a:pPr>
            <a:r>
              <a:rPr lang="en-US" dirty="0"/>
              <a:t>Very small difference</a:t>
            </a:r>
            <a:br>
              <a:rPr lang="en-US" dirty="0"/>
            </a:br>
            <a:r>
              <a:rPr lang="en-US" dirty="0"/>
              <a:t>No strong evidence of adverse impact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30C6F-93AE-212E-DECB-2BF4274CA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940D1-CA6A-90FD-225E-F97ACB8DC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45" y="1566876"/>
            <a:ext cx="3284505" cy="343184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37FF-1F8A-7C6F-ABF1-FBAD7806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Findings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FE50C-F7F4-8D5B-5ED2-23920DB56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Average Approval Probability by Age Group</a:t>
            </a:r>
          </a:p>
          <a:p>
            <a:pPr lvl="1"/>
            <a:r>
              <a:rPr lang="en-US" dirty="0"/>
              <a:t>18–25: </a:t>
            </a:r>
            <a:r>
              <a:rPr lang="en-US" b="1" dirty="0"/>
              <a:t>0.578</a:t>
            </a:r>
            <a:endParaRPr lang="en-US" dirty="0"/>
          </a:p>
          <a:p>
            <a:pPr lvl="1"/>
            <a:r>
              <a:rPr lang="en-US" dirty="0"/>
              <a:t>26–35: </a:t>
            </a:r>
            <a:r>
              <a:rPr lang="en-US" b="1" dirty="0"/>
              <a:t>0.689</a:t>
            </a:r>
            <a:endParaRPr lang="en-US" dirty="0"/>
          </a:p>
          <a:p>
            <a:pPr lvl="1"/>
            <a:r>
              <a:rPr lang="en-US" dirty="0"/>
              <a:t>36–50: </a:t>
            </a:r>
            <a:r>
              <a:rPr lang="en-US" b="1" dirty="0"/>
              <a:t>0.773</a:t>
            </a:r>
            <a:endParaRPr lang="en-US" dirty="0"/>
          </a:p>
          <a:p>
            <a:pPr lvl="1"/>
            <a:r>
              <a:rPr lang="en-US" dirty="0"/>
              <a:t>50+: </a:t>
            </a:r>
            <a:r>
              <a:rPr lang="en-US" b="1" dirty="0"/>
              <a:t>0.834</a:t>
            </a:r>
            <a:endParaRPr lang="en-US" dirty="0"/>
          </a:p>
          <a:p>
            <a:r>
              <a:rPr lang="en-US" b="1" dirty="0"/>
              <a:t>Approval Rate by Age Group</a:t>
            </a:r>
          </a:p>
          <a:p>
            <a:pPr lvl="1"/>
            <a:r>
              <a:rPr lang="en-US" dirty="0"/>
              <a:t>18–25: </a:t>
            </a:r>
            <a:r>
              <a:rPr lang="en-US" b="1" dirty="0"/>
              <a:t>64.9%</a:t>
            </a:r>
            <a:endParaRPr lang="en-US" dirty="0"/>
          </a:p>
          <a:p>
            <a:pPr lvl="1"/>
            <a:r>
              <a:rPr lang="en-US" dirty="0"/>
              <a:t>26–35: </a:t>
            </a:r>
            <a:r>
              <a:rPr lang="en-US" b="1" dirty="0"/>
              <a:t>78.8%</a:t>
            </a:r>
            <a:endParaRPr lang="en-US" dirty="0"/>
          </a:p>
          <a:p>
            <a:pPr lvl="1"/>
            <a:r>
              <a:rPr lang="en-US" dirty="0"/>
              <a:t>36–50: </a:t>
            </a:r>
            <a:r>
              <a:rPr lang="en-US" b="1" dirty="0"/>
              <a:t>90.2%</a:t>
            </a:r>
            <a:endParaRPr lang="en-US" dirty="0"/>
          </a:p>
          <a:p>
            <a:pPr lvl="1"/>
            <a:r>
              <a:rPr lang="en-US" dirty="0"/>
              <a:t>50+: </a:t>
            </a:r>
            <a:r>
              <a:rPr lang="en-US" b="1" dirty="0"/>
              <a:t>94.1%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Clear monotonic increase with age</a:t>
            </a:r>
            <a:br>
              <a:rPr lang="en-US" dirty="0"/>
            </a:br>
            <a:r>
              <a:rPr lang="en-US" dirty="0"/>
              <a:t>Indicates </a:t>
            </a:r>
            <a:r>
              <a:rPr lang="en-US" b="1" dirty="0"/>
              <a:t>age sensitivity</a:t>
            </a:r>
            <a:r>
              <a:rPr lang="en-US" dirty="0"/>
              <a:t>, important for regulatory discussion</a:t>
            </a:r>
            <a:br>
              <a:rPr lang="en-US" dirty="0"/>
            </a:br>
            <a:r>
              <a:rPr lang="en-US" dirty="0"/>
              <a:t>Likely driven by correlated financial stability features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9BEEC-5AA8-9E06-0FD0-82CF25863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0102FA-7B66-993B-43BB-592076F16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62" y="2160160"/>
            <a:ext cx="3314987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56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5A37-410B-7739-56A4-046F8152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Findings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D5671-0D1C-A06E-E502-41218DD57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Mean SHAP Contribution (Bias Signal)</a:t>
            </a:r>
          </a:p>
          <a:p>
            <a:r>
              <a:rPr lang="en-IN" b="1" dirty="0" err="1"/>
              <a:t>PersonalStatusSex</a:t>
            </a:r>
            <a:endParaRPr lang="en-IN" dirty="0"/>
          </a:p>
          <a:p>
            <a:pPr lvl="1"/>
            <a:r>
              <a:rPr lang="en-IN" dirty="0"/>
              <a:t>Group 0: </a:t>
            </a:r>
            <a:r>
              <a:rPr lang="en-IN" b="1" dirty="0"/>
              <a:t>+0.089</a:t>
            </a:r>
            <a:endParaRPr lang="en-IN" dirty="0"/>
          </a:p>
          <a:p>
            <a:pPr lvl="1"/>
            <a:r>
              <a:rPr lang="en-IN" dirty="0"/>
              <a:t>Group 1: </a:t>
            </a:r>
            <a:r>
              <a:rPr lang="en-IN" b="1" dirty="0"/>
              <a:t>−0.109</a:t>
            </a:r>
            <a:endParaRPr lang="en-IN" dirty="0"/>
          </a:p>
          <a:p>
            <a:pPr lvl="1"/>
            <a:r>
              <a:rPr lang="en-IN" dirty="0"/>
              <a:t>Group 2: </a:t>
            </a:r>
            <a:r>
              <a:rPr lang="en-IN" b="1" dirty="0"/>
              <a:t>+0.439</a:t>
            </a:r>
            <a:endParaRPr lang="en-IN" dirty="0"/>
          </a:p>
          <a:p>
            <a:pPr lvl="1"/>
            <a:r>
              <a:rPr lang="en-IN" dirty="0"/>
              <a:t>Group 3: </a:t>
            </a:r>
            <a:r>
              <a:rPr lang="en-IN" b="1" dirty="0"/>
              <a:t>+0.328</a:t>
            </a:r>
            <a:endParaRPr lang="en-IN" dirty="0"/>
          </a:p>
          <a:p>
            <a:pPr lvl="1"/>
            <a:r>
              <a:rPr lang="en-IN" dirty="0"/>
              <a:t> Some groups receive systematically lower SHAP contributions</a:t>
            </a:r>
            <a:br>
              <a:rPr lang="en-IN" dirty="0"/>
            </a:br>
            <a:r>
              <a:rPr lang="en-IN" dirty="0"/>
              <a:t>Suggests </a:t>
            </a:r>
            <a:r>
              <a:rPr lang="en-IN" b="1" dirty="0"/>
              <a:t>indirect bias via correlated features</a:t>
            </a:r>
            <a:endParaRPr lang="en-IN" dirty="0"/>
          </a:p>
          <a:p>
            <a:r>
              <a:rPr lang="en-IN" b="1" dirty="0"/>
              <a:t>Foreign Worker</a:t>
            </a:r>
            <a:endParaRPr lang="en-IN" dirty="0"/>
          </a:p>
          <a:p>
            <a:pPr lvl="1"/>
            <a:r>
              <a:rPr lang="en-IN" dirty="0"/>
              <a:t>Non-foreign: </a:t>
            </a:r>
            <a:r>
              <a:rPr lang="en-IN" b="1" dirty="0"/>
              <a:t>+0.182</a:t>
            </a:r>
            <a:endParaRPr lang="en-IN" dirty="0"/>
          </a:p>
          <a:p>
            <a:pPr lvl="1"/>
            <a:r>
              <a:rPr lang="en-IN" dirty="0"/>
              <a:t>Foreign worker: </a:t>
            </a:r>
            <a:r>
              <a:rPr lang="en-IN" b="1" dirty="0"/>
              <a:t>+0.237</a:t>
            </a:r>
            <a:endParaRPr lang="en-IN" dirty="0"/>
          </a:p>
          <a:p>
            <a:pPr lvl="1"/>
            <a:r>
              <a:rPr lang="en-IN" dirty="0"/>
              <a:t> No negative SHAP bias detected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CABA7-0AC5-F0C0-5CE8-807CCB82C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B65404-DD27-2896-8B57-E9FBFE261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50" y="1814542"/>
            <a:ext cx="3552390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74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5FF3-7E01-18C6-F450-DFA95756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Findings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07621-FDCF-AE16-9335-E17F38572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0" y="273050"/>
            <a:ext cx="5111750" cy="5853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 Counterfactual Analysis -</a:t>
            </a:r>
            <a:r>
              <a:rPr lang="en-US" sz="1800" dirty="0"/>
              <a:t>What would need to change for the decision to change?</a:t>
            </a:r>
            <a:endParaRPr lang="en-US" sz="1800" b="1" dirty="0"/>
          </a:p>
          <a:p>
            <a:r>
              <a:rPr lang="en-US" dirty="0"/>
              <a:t>Original approval probability: </a:t>
            </a:r>
            <a:r>
              <a:rPr lang="en-US" b="1" dirty="0"/>
              <a:t>0.578</a:t>
            </a:r>
            <a:endParaRPr lang="en-US" dirty="0"/>
          </a:p>
          <a:p>
            <a:r>
              <a:rPr lang="en-US" dirty="0"/>
              <a:t>After improving </a:t>
            </a:r>
            <a:r>
              <a:rPr lang="en-US" b="1" dirty="0"/>
              <a:t>Savings + Status by one tier</a:t>
            </a:r>
            <a:r>
              <a:rPr lang="en-US" dirty="0"/>
              <a:t>: </a:t>
            </a:r>
            <a:r>
              <a:rPr lang="en-US" b="1" dirty="0"/>
              <a:t>0.594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Even small financial improvements measurably increase approval</a:t>
            </a:r>
            <a:br>
              <a:rPr lang="en-US" dirty="0"/>
            </a:br>
            <a:r>
              <a:rPr lang="en-US" dirty="0"/>
              <a:t> Supports </a:t>
            </a:r>
            <a:r>
              <a:rPr lang="en-US" b="1" dirty="0"/>
              <a:t>actionable, customer-facing explanations</a:t>
            </a:r>
            <a:endParaRPr lang="en-US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B46AF-953B-0FEA-CEF3-B761E91A9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A62D7-0899-FC15-6960-328EE89A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9" y="3063208"/>
            <a:ext cx="385953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15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B340-DE84-5358-088D-836893538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493519"/>
          </a:xfrm>
        </p:spPr>
        <p:txBody>
          <a:bodyPr/>
          <a:lstStyle/>
          <a:p>
            <a:br>
              <a:rPr lang="en-IN" dirty="0"/>
            </a:br>
            <a:r>
              <a:rPr lang="en-US" b="1" dirty="0"/>
              <a:t>References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D9A52-4BA7-BFBE-6DA1-FFA6B0F06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" y="1493520"/>
            <a:ext cx="7924800" cy="5638800"/>
          </a:xfrm>
        </p:spPr>
        <p:txBody>
          <a:bodyPr>
            <a:noAutofit/>
          </a:bodyPr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[1] M. T. Ribeiro, S. Singh, and C. </a:t>
            </a:r>
            <a:r>
              <a:rPr lang="en-IN" sz="1800" dirty="0" err="1">
                <a:solidFill>
                  <a:schemeClr val="tx1"/>
                </a:solidFill>
              </a:rPr>
              <a:t>Guestrin</a:t>
            </a:r>
            <a:r>
              <a:rPr lang="en-IN" sz="1800" dirty="0">
                <a:solidFill>
                  <a:schemeClr val="tx1"/>
                </a:solidFill>
              </a:rPr>
              <a:t>,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“Why Should I Trust You? Explaining the Predictions of Any Classifier,”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i="1" dirty="0">
                <a:solidFill>
                  <a:schemeClr val="tx1"/>
                </a:solidFill>
              </a:rPr>
              <a:t>Proceedings of the 22nd ACM SIGKDD International Conference on Knowledge Discovery and Data Mining (KDD)</a:t>
            </a:r>
            <a:r>
              <a:rPr lang="en-IN" sz="1800" dirty="0">
                <a:solidFill>
                  <a:schemeClr val="tx1"/>
                </a:solidFill>
              </a:rPr>
              <a:t>, San Francisco, CA, USA, 2016, pp. 1135–1144.</a:t>
            </a:r>
            <a:br>
              <a:rPr lang="en-IN" sz="1800" dirty="0">
                <a:solidFill>
                  <a:schemeClr val="tx1"/>
                </a:solidFill>
              </a:rPr>
            </a:b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[2] S. M. Lundberg and S.-I. Lee,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“A Unified Approach to Interpreting Model Predictions,”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i="1" dirty="0">
                <a:solidFill>
                  <a:schemeClr val="tx1"/>
                </a:solidFill>
              </a:rPr>
              <a:t>Proceedings of the 31st International Conference on Neural Information Processing Systems (</a:t>
            </a:r>
            <a:r>
              <a:rPr lang="en-IN" sz="1800" i="1" dirty="0" err="1">
                <a:solidFill>
                  <a:schemeClr val="tx1"/>
                </a:solidFill>
              </a:rPr>
              <a:t>NeurIPS</a:t>
            </a:r>
            <a:r>
              <a:rPr lang="en-IN" sz="1800" i="1" dirty="0">
                <a:solidFill>
                  <a:schemeClr val="tx1"/>
                </a:solidFill>
              </a:rPr>
              <a:t>)</a:t>
            </a:r>
            <a:r>
              <a:rPr lang="en-IN" sz="1800" dirty="0">
                <a:solidFill>
                  <a:schemeClr val="tx1"/>
                </a:solidFill>
              </a:rPr>
              <a:t>, Long Beach, CA, USA, 2017, pp. 4765–4774.</a:t>
            </a:r>
            <a:br>
              <a:rPr lang="en-IN" sz="1800" dirty="0">
                <a:solidFill>
                  <a:schemeClr val="tx1"/>
                </a:solidFill>
              </a:rPr>
            </a:b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IN" sz="1800" dirty="0">
                <a:solidFill>
                  <a:schemeClr val="tx1"/>
                </a:solidFill>
              </a:rPr>
              <a:t>[3] S. M. Lundberg, G. Erion, H. Chen, A. DeGrave, J. M. </a:t>
            </a:r>
            <a:r>
              <a:rPr lang="en-IN" sz="1800" dirty="0" err="1">
                <a:solidFill>
                  <a:schemeClr val="tx1"/>
                </a:solidFill>
              </a:rPr>
              <a:t>Prutkin</a:t>
            </a:r>
            <a:r>
              <a:rPr lang="en-IN" sz="1800" dirty="0">
                <a:solidFill>
                  <a:schemeClr val="tx1"/>
                </a:solidFill>
              </a:rPr>
              <a:t>, B. Nair, R. Katz, J. Himmelfarb, N. Bansal, and S.-I. Lee,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dirty="0">
                <a:solidFill>
                  <a:schemeClr val="tx1"/>
                </a:solidFill>
              </a:rPr>
              <a:t>“Explainable AI for Trees: From Local Explanations to Global Understanding,”</a:t>
            </a:r>
            <a:br>
              <a:rPr lang="en-IN" sz="1800" dirty="0">
                <a:solidFill>
                  <a:schemeClr val="tx1"/>
                </a:solidFill>
              </a:rPr>
            </a:br>
            <a:r>
              <a:rPr lang="en-IN" sz="1800" i="1" dirty="0">
                <a:solidFill>
                  <a:schemeClr val="tx1"/>
                </a:solidFill>
              </a:rPr>
              <a:t>Nature Machine Intelligence</a:t>
            </a:r>
            <a:r>
              <a:rPr lang="en-IN" sz="1800" dirty="0">
                <a:solidFill>
                  <a:schemeClr val="tx1"/>
                </a:solidFill>
              </a:rPr>
              <a:t>, vol. 2, no. 1, pp. 56–67, 2020.</a:t>
            </a:r>
          </a:p>
          <a:p>
            <a:pPr algn="l"/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135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br>
              <a:rPr lang="en-US" sz="7200" dirty="0"/>
            </a:br>
            <a:r>
              <a:rPr lang="en-US" sz="7200" dirty="0"/>
              <a:t>THANK YOU</a:t>
            </a:r>
            <a:endParaRPr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1654</Words>
  <Application>Microsoft Office PowerPoint</Application>
  <PresentationFormat>On-screen Show (4:3)</PresentationFormat>
  <Paragraphs>197</Paragraphs>
  <Slides>30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 Math</vt:lpstr>
      <vt:lpstr>Office Theme</vt:lpstr>
      <vt:lpstr>Explainable Artificial Intelligence (XAI)</vt:lpstr>
      <vt:lpstr>Motivation: The Problem with Modern ML</vt:lpstr>
      <vt:lpstr> Why Explainability is Necessary</vt:lpstr>
      <vt:lpstr>What is Explainable AI (XAI)?</vt:lpstr>
      <vt:lpstr>PowerPoint Presentation</vt:lpstr>
      <vt:lpstr>Taxonomy of Explainable AI</vt:lpstr>
      <vt:lpstr>PowerPoint Presentation</vt:lpstr>
      <vt:lpstr>Local vs Global Explanations</vt:lpstr>
      <vt:lpstr>Post-hoc Explainability </vt:lpstr>
      <vt:lpstr>LIME: Conceptual Foundation</vt:lpstr>
      <vt:lpstr>LIME: Mathematical Formulation</vt:lpstr>
      <vt:lpstr>PowerPoint Presentation</vt:lpstr>
      <vt:lpstr>LIME: Strengths and Limitations</vt:lpstr>
      <vt:lpstr>SHAP: Conceptual Foundation</vt:lpstr>
      <vt:lpstr>SHAP: Theory and Guarantees</vt:lpstr>
      <vt:lpstr>PowerPoint Presentation</vt:lpstr>
      <vt:lpstr>TreeExplainer</vt:lpstr>
      <vt:lpstr>PowerPoint Presentation</vt:lpstr>
      <vt:lpstr>Practical Validation of Explainable AI</vt:lpstr>
      <vt:lpstr>Practical Validation of Explainable AI</vt:lpstr>
      <vt:lpstr>Findings and Conclusion</vt:lpstr>
      <vt:lpstr>Findings and Conclusion</vt:lpstr>
      <vt:lpstr> Findings and Conclusion</vt:lpstr>
      <vt:lpstr>Findings and Conclusion</vt:lpstr>
      <vt:lpstr>Findings and Conclusion</vt:lpstr>
      <vt:lpstr>Findings and Conclusion</vt:lpstr>
      <vt:lpstr>Findings and Conclusion</vt:lpstr>
      <vt:lpstr>Findings and Conclusion</vt:lpstr>
      <vt:lpstr> 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Paramesh</dc:creator>
  <cp:keywords/>
  <dc:description>generated using python-pptx</dc:description>
  <cp:lastModifiedBy>Prajesh Bandhu Banerjee</cp:lastModifiedBy>
  <cp:revision>12</cp:revision>
  <dcterms:created xsi:type="dcterms:W3CDTF">2013-01-27T09:14:16Z</dcterms:created>
  <dcterms:modified xsi:type="dcterms:W3CDTF">2026-01-29T05:31:28Z</dcterms:modified>
  <cp:category/>
</cp:coreProperties>
</file>